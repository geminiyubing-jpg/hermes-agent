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总资产 TOP10（亿美元）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总资产(亿$)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Sheet1!$A$2:$A$11</c:f>
              <c:strCache>
                <c:ptCount val="10"/>
                <c:pt idx="0">
                  <c:v>工银亚洲</c:v>
                </c:pt>
                <c:pt idx="1">
                  <c:v>工银澳门</c:v>
                </c:pt>
                <c:pt idx="2">
                  <c:v>工银标准</c:v>
                </c:pt>
                <c:pt idx="3">
                  <c:v>纽约分行</c:v>
                </c:pt>
                <c:pt idx="4">
                  <c:v>迪拜国际金融中心分行</c:v>
                </c:pt>
                <c:pt idx="5">
                  <c:v>新加坡分行</c:v>
                </c:pt>
                <c:pt idx="6">
                  <c:v>香港分行</c:v>
                </c:pt>
                <c:pt idx="7">
                  <c:v>卢森堡分行</c:v>
                </c:pt>
                <c:pt idx="8">
                  <c:v>首尔分行</c:v>
                </c:pt>
                <c:pt idx="9">
                  <c:v>东京分行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1271.65</c:v>
                </c:pt>
                <c:pt idx="1">
                  <c:v>483.0</c:v>
                </c:pt>
                <c:pt idx="2">
                  <c:v>380.05</c:v>
                </c:pt>
                <c:pt idx="3">
                  <c:v>362.2</c:v>
                </c:pt>
                <c:pt idx="4">
                  <c:v>292.89</c:v>
                </c:pt>
                <c:pt idx="5">
                  <c:v>289.68</c:v>
                </c:pt>
                <c:pt idx="6">
                  <c:v>216.8136939316</c:v>
                </c:pt>
                <c:pt idx="7">
                  <c:v>211.57</c:v>
                </c:pt>
                <c:pt idx="8">
                  <c:v>187.0</c:v>
                </c:pt>
                <c:pt idx="9">
                  <c:v>168.5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/>
            </a:pPr>
            <a:r>
              <a:t>各地区总资产占比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总资产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其他</c:v>
                </c:pt>
                <c:pt idx="1">
                  <c:v>亚太</c:v>
                </c:pt>
                <c:pt idx="2">
                  <c:v>美洲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4001.6675048537</c:v>
                </c:pt>
                <c:pt idx="1">
                  <c:v>1012.8900000000001</c:v>
                </c:pt>
                <c:pt idx="2">
                  <c:v>423.03000000000003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不良贷款率排名 (NPL &gt; 0 的机构)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NPL(%)</c:v>
                </c:pt>
              </c:strCache>
            </c:strRef>
          </c:tx>
          <c:spPr>
            <a:solidFill>
              <a:srgbClr val="E74C3C"/>
            </a:solidFill>
          </c:spPr>
          <c:cat>
            <c:strRef>
              <c:f>Sheet1!$A$2:$A$13</c:f>
              <c:strCache>
                <c:ptCount val="12"/>
                <c:pt idx="0">
                  <c:v>工银澳门</c:v>
                </c:pt>
                <c:pt idx="1">
                  <c:v>河内分行</c:v>
                </c:pt>
                <c:pt idx="2">
                  <c:v>孟买分行</c:v>
                </c:pt>
                <c:pt idx="3">
                  <c:v>工银巴西</c:v>
                </c:pt>
                <c:pt idx="4">
                  <c:v>仰光分行</c:v>
                </c:pt>
                <c:pt idx="5">
                  <c:v>工银国际</c:v>
                </c:pt>
                <c:pt idx="6">
                  <c:v>工银美国</c:v>
                </c:pt>
                <c:pt idx="7">
                  <c:v>伦敦分行</c:v>
                </c:pt>
                <c:pt idx="8">
                  <c:v>金边分行</c:v>
                </c:pt>
                <c:pt idx="9">
                  <c:v>纽约分行</c:v>
                </c:pt>
                <c:pt idx="10">
                  <c:v>工银阿根廷</c:v>
                </c:pt>
                <c:pt idx="11">
                  <c:v>工银加拿大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1097.0</c:v>
                </c:pt>
                <c:pt idx="1">
                  <c:v>374.0</c:v>
                </c:pt>
                <c:pt idx="2">
                  <c:v>291.0</c:v>
                </c:pt>
                <c:pt idx="3">
                  <c:v>57.99999999999999</c:v>
                </c:pt>
                <c:pt idx="4">
                  <c:v>31.7655819450252</c:v>
                </c:pt>
                <c:pt idx="5">
                  <c:v>25.230000000000004</c:v>
                </c:pt>
                <c:pt idx="6">
                  <c:v>4.34</c:v>
                </c:pt>
                <c:pt idx="7">
                  <c:v>4.09</c:v>
                </c:pt>
                <c:pt idx="8">
                  <c:v>2.87</c:v>
                </c:pt>
                <c:pt idx="9">
                  <c:v>2.79</c:v>
                </c:pt>
                <c:pt idx="10">
                  <c:v>1.7399999999999998</c:v>
                </c:pt>
                <c:pt idx="11">
                  <c:v>1.66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100"/>
            </a:pPr>
            <a:r>
              <a:t>风险等级分布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机构数量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零风险 (NPL=0)</c:v>
                </c:pt>
                <c:pt idx="1">
                  <c:v>低风险 (0&lt;NPL≤0.5%)</c:v>
                </c:pt>
                <c:pt idx="2">
                  <c:v>中风险 (0.5%&lt;NPL≤1%)</c:v>
                </c:pt>
                <c:pt idx="3">
                  <c:v>高风险 (NPL&gt;1%)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5</c:v>
                </c:pt>
                <c:pt idx="2">
                  <c:v>5</c:v>
                </c:pt>
                <c:pt idx="3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100"/>
            </a:pPr>
            <a:r>
              <a:t>审计质量评级分布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机构数</c:v>
                </c:pt>
              </c:strCache>
            </c:strRef>
          </c:tx>
          <c:dPt>
            <c:idx val="0"/>
            <c:spPr>
              <a:solidFill>
                <a:srgbClr val="27AE60"/>
              </a:solidFill>
            </c:spPr>
          </c:dPt>
          <c:dPt>
            <c:idx val="1"/>
            <c:spPr>
              <a:solidFill>
                <a:srgbClr val="E67E22"/>
              </a:solidFill>
            </c:spPr>
          </c:dPt>
          <c:cat>
            <c:strRef>
              <c:f>Sheet1!$A$2:$A$3</c:f>
              <c:strCache>
                <c:ptCount val="2"/>
                <c:pt idx="0">
                  <c:v>A 级 (优秀)</c:v>
                </c:pt>
                <c:pt idx="1">
                  <c:v>B 级 (待提升)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17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整改率最低的机构（%）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整改率</c:v>
                </c:pt>
              </c:strCache>
            </c:strRef>
          </c:tx>
          <c:spPr>
            <a:solidFill>
              <a:srgbClr val="E67E22"/>
            </a:solidFill>
          </c:spPr>
          <c:cat>
            <c:strRef>
              <c:f>Sheet1!$A$2:$A$9</c:f>
              <c:strCache>
                <c:ptCount val="8"/>
                <c:pt idx="0">
                  <c:v>工银标准</c:v>
                </c:pt>
                <c:pt idx="1">
                  <c:v>悉尼分行</c:v>
                </c:pt>
                <c:pt idx="2">
                  <c:v>工银墨西哥</c:v>
                </c:pt>
                <c:pt idx="3">
                  <c:v>工银加拿大</c:v>
                </c:pt>
                <c:pt idx="4">
                  <c:v>纽约分行</c:v>
                </c:pt>
                <c:pt idx="5">
                  <c:v>卡拉奇分行</c:v>
                </c:pt>
                <c:pt idx="6">
                  <c:v>工银土耳其</c:v>
                </c:pt>
                <c:pt idx="7">
                  <c:v>工银巴西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25.0</c:v>
                </c:pt>
                <c:pt idx="1">
                  <c:v>29.629629629629626</c:v>
                </c:pt>
                <c:pt idx="2">
                  <c:v>35.0</c:v>
                </c:pt>
                <c:pt idx="3">
                  <c:v>35.55555555555555</c:v>
                </c:pt>
                <c:pt idx="4">
                  <c:v>37.0</c:v>
                </c:pt>
                <c:pt idx="5">
                  <c:v>48.0</c:v>
                </c:pt>
                <c:pt idx="6">
                  <c:v>50.0</c:v>
                </c:pt>
                <c:pt idx="7">
                  <c:v>53.0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净利润 TOP10（亿美元）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净利润(亿$)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Sheet1!$A$2:$A$9</c:f>
              <c:strCache>
                <c:ptCount val="8"/>
                <c:pt idx="0">
                  <c:v>工银亚洲</c:v>
                </c:pt>
                <c:pt idx="1">
                  <c:v>工银莫斯科</c:v>
                </c:pt>
                <c:pt idx="2">
                  <c:v>工银标准</c:v>
                </c:pt>
                <c:pt idx="3">
                  <c:v>迪拜国际金融中心分行</c:v>
                </c:pt>
                <c:pt idx="4">
                  <c:v>新加坡分行</c:v>
                </c:pt>
                <c:pt idx="5">
                  <c:v>工银阿根廷</c:v>
                </c:pt>
                <c:pt idx="6">
                  <c:v>悉尼分行</c:v>
                </c:pt>
                <c:pt idx="7">
                  <c:v>卡拉奇分行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9.39</c:v>
                </c:pt>
                <c:pt idx="1">
                  <c:v>3.45</c:v>
                </c:pt>
                <c:pt idx="2">
                  <c:v>2.18</c:v>
                </c:pt>
                <c:pt idx="3">
                  <c:v>2.05</c:v>
                </c:pt>
                <c:pt idx="4">
                  <c:v>2.04</c:v>
                </c:pt>
                <c:pt idx="5">
                  <c:v>1.59</c:v>
                </c:pt>
                <c:pt idx="6">
                  <c:v>1.41</c:v>
                </c:pt>
                <c:pt idx="7">
                  <c:v>1.22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743200"/>
            <a:ext cx="85313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2025年境外机构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7E22"/>
                </a:solidFill>
              </a:defRPr>
            </a:pPr>
            <a:r>
              <a:t>风险分析与审计质量评估报告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DEFB"/>
                </a:solidFill>
              </a:defRPr>
            </a:pPr>
            <a:r>
              <a:t>覆盖 46 家境外机构 | 总资产超 5438 亿美元</a:t>
            </a:r>
          </a:p>
          <a:p>
            <a:pPr algn="ctr">
              <a:defRPr sz="1300">
                <a:solidFill>
                  <a:srgbClr val="7F8C8D"/>
                </a:solidFill>
              </a:defRPr>
            </a:pPr>
            <a:r>
              <a:t>数据截至2025年Q1 | 涵盖经营、审计、监管、风险四大维度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BDEFB"/>
                </a:solidFill>
              </a:defRPr>
            </a:pPr>
            <a:r>
              <a:t>核心指标概览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总资产</a:t>
            </a:r>
          </a:p>
          <a:p>
            <a:pPr>
              <a:defRPr sz="2200" b="1">
                <a:solidFill>
                  <a:srgbClr val="2E86C1"/>
                </a:solidFill>
              </a:defRPr>
            </a:pPr>
            <a:r>
              <a:t>5,438 亿$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128016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总营收</a:t>
            </a:r>
          </a:p>
          <a:p>
            <a:pPr>
              <a:defRPr sz="2200" b="1">
                <a:solidFill>
                  <a:srgbClr val="2E86C1"/>
                </a:solidFill>
              </a:defRPr>
            </a:pPr>
            <a:r>
              <a:t>100.1 亿$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73152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28016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净利润</a:t>
            </a:r>
          </a:p>
          <a:p>
            <a:pPr>
              <a:defRPr sz="2200" b="1">
                <a:solidFill>
                  <a:srgbClr val="27AE60"/>
                </a:solidFill>
              </a:defRPr>
            </a:pPr>
            <a:r>
              <a:t>30.9 亿$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280160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盈利机构</a:t>
            </a:r>
          </a:p>
          <a:p>
            <a:pPr>
              <a:defRPr sz="2200" b="1">
                <a:solidFill>
                  <a:srgbClr val="27AE60"/>
                </a:solidFill>
              </a:defRPr>
            </a:pPr>
            <a:r>
              <a:t>43/46 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平均NPL</a:t>
            </a:r>
          </a:p>
          <a:p>
            <a:pPr>
              <a:defRPr sz="2200" b="1">
                <a:solidFill>
                  <a:srgbClr val="E67E22"/>
                </a:solidFill>
              </a:defRPr>
            </a:pPr>
            <a:r>
              <a:t>41.339%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73152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256032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A类审计</a:t>
            </a:r>
          </a:p>
          <a:p>
            <a:pPr>
              <a:defRPr sz="2200" b="1">
                <a:solidFill>
                  <a:srgbClr val="27AE60"/>
                </a:solidFill>
              </a:defRPr>
            </a:pPr>
            <a:r>
              <a:t>27 家 (B类17家)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560320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256032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亏损机构</a:t>
            </a:r>
          </a:p>
          <a:p>
            <a:pPr>
              <a:defRPr sz="2200" b="1">
                <a:solidFill>
                  <a:srgbClr val="E74C3C"/>
                </a:solidFill>
              </a:defRPr>
            </a:pPr>
            <a:r>
              <a:t>2 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560320"/>
            <a:ext cx="731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56032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高NPL(&gt;1%)</a:t>
            </a:r>
          </a:p>
          <a:p>
            <a:pPr>
              <a:defRPr sz="2200" b="1">
                <a:solidFill>
                  <a:srgbClr val="E74C3C"/>
                </a:solidFill>
              </a:defRPr>
            </a:pPr>
            <a:r>
              <a:t>14 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560320"/>
            <a:ext cx="731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57200" y="384048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5200" y="3840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关键发现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</a:defRPr>
            </a:pPr>
            <a:r>
              <a:t>最大机构: 工银亚洲 (362亿$)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</a:defRPr>
            </a:pPr>
            <a:r>
              <a:t>最高NPL: 工银澳门 (1097.0%)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</a:defRPr>
            </a:pPr>
            <a:r>
              <a:t>最赚钱: 工银亚洲 (9.4亿$)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</a:defRPr>
            </a:pPr>
            <a:r>
              <a:t>最大亏损: 工银国际 (-3.4亿$)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</a:defRPr>
            </a:pPr>
            <a:r>
              <a:t>A类审计质量占比: 59%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</a:defRPr>
            </a:pPr>
            <a:r>
              <a:t>零NPL机构: 22家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资产规模分析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BDEFB"/>
                </a:solidFill>
              </a:defRPr>
            </a:pPr>
            <a:r>
              <a:t>按地区分布与机构排名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188720"/>
          <a:ext cx="5760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31432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机构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总资产(亿$)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营收(亿$)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净利润(亿$)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NPL(%)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工银亚洲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1,271.7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19.44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9.39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E74C3C"/>
                          </a:solidFill>
                        </a:defRPr>
                      </a:pPr>
                      <a:r>
                        <a:t>1.300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工银澳门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483.0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4.93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E74C3C"/>
                          </a:solidFill>
                        </a:defRPr>
                      </a:pPr>
                      <a:r>
                        <a:t>1097.000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工银标准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380.1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7.11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2.18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0.100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纽约分行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362.2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2.94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E74C3C"/>
                          </a:solidFill>
                        </a:defRPr>
                      </a:pPr>
                      <a:r>
                        <a:t>2.790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迪拜国际金融中心分行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292.9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2.94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2.05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新加坡分行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289.7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2.66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0.210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香港分行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216.8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卢森堡分行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211.6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首尔分行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187.0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1.23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东京分行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168.5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悉尼分行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166.5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2.40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1.41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0.530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多哈分行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158.1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伦敦分行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149.5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1.70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E74C3C"/>
                          </a:solidFill>
                        </a:defRPr>
                      </a:pPr>
                      <a:r>
                        <a:t>4.090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澳门分行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108.0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工银欧洲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B2A4A"/>
                          </a:solidFill>
                        </a:defRPr>
                      </a:pPr>
                      <a:r>
                        <a:t>99.8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1.23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27AE60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7F8C8D"/>
                          </a:solidFill>
                        </a:defRPr>
                      </a:pPr>
                      <a:r>
                        <a:t>0.470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信用风险深度分析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BDEFB"/>
                </a:solidFill>
              </a:defRPr>
            </a:pPr>
            <a:r>
              <a:t>不良贷款率与高风险领域识别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1887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高风险机构详情</a:t>
            </a:r>
          </a:p>
          <a:p>
            <a:pPr>
              <a:defRPr sz="1000" b="1">
                <a:solidFill>
                  <a:srgbClr val="1B2A4A"/>
                </a:solidFill>
              </a:defRPr>
            </a:pPr>
            <a:r>
              <a:t>工银澳门 (NPL 1097.00%)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风险领域: 1.信用风险</a:t>
            </a:r>
            <a:br/>
            <a:r>
              <a:t>2.市场风险</a:t>
            </a:r>
            <a:br/>
            <a:r>
              <a:t>3.集中度风险</a:t>
            </a:r>
            <a:br/>
            <a:r>
              <a:t>4.声誉风险</a:t>
            </a:r>
            <a:br/>
            <a:r>
              <a:t>5.信息安全风险防范需加强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原因: 1.不良贷款率10.97%，拨备覆盖率仅51.72%。</a:t>
            </a:r>
            <a:br/>
            <a:r>
              <a:t>2.截至2025年年末，债券投资以摊余成本（AC）类浮亏约1.7</a:t>
            </a:r>
          </a:p>
          <a:p>
            <a:pPr>
              <a:defRPr sz="1000" b="1">
                <a:solidFill>
                  <a:srgbClr val="1B2A4A"/>
                </a:solidFill>
              </a:defRPr>
            </a:pPr>
            <a:r>
              <a:t>河内分行 (NPL 374.00%)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风险领域: 1.信贷及同业业务管理</a:t>
            </a:r>
            <a:br/>
            <a:r>
              <a:t>2.反洗钱管理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原因: 1.资产质量持续承压。河内分行银团贷款、同业拆借（越南首富“张美兰事件”引发集团首笔同业拆借风险事件）、转开保函3个业务</a:t>
            </a:r>
          </a:p>
          <a:p>
            <a:pPr>
              <a:defRPr sz="1000" b="1">
                <a:solidFill>
                  <a:srgbClr val="1B2A4A"/>
                </a:solidFill>
              </a:defRPr>
            </a:pPr>
            <a:r>
              <a:t>孟买分行 (NPL 291.00%)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风险领域: 1.合规风险</a:t>
            </a:r>
            <a:br/>
            <a:r>
              <a:t>2.信用风险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原因: 1.出于保护本地金融业考量，印度储备银行（RBI）监管规则纷繁复杂且多变，对外资银行实施较为严苛的监管要求，检查问题严苛</a:t>
            </a:r>
          </a:p>
          <a:p>
            <a:pPr>
              <a:defRPr sz="1000" b="1">
                <a:solidFill>
                  <a:srgbClr val="1B2A4A"/>
                </a:solidFill>
              </a:defRPr>
            </a:pPr>
            <a:r>
              <a:t>工银巴西 (NPL 58.00%)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风险领域: 1.信息科技与网络安全领域</a:t>
            </a:r>
            <a:br/>
            <a:r>
              <a:t>2.合规反洗钱领域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原因: 1.工银巴西外购核心业务系统包括Advice（巴西子行外汇交易系统)、Change（巴西子行外汇交易系统）、Dattos</a:t>
            </a:r>
          </a:p>
          <a:p>
            <a:pPr>
              <a:defRPr sz="1000" b="1">
                <a:solidFill>
                  <a:srgbClr val="1B2A4A"/>
                </a:solidFill>
              </a:defRPr>
            </a:pPr>
            <a:r>
              <a:t>仰光分行 (NPL 31.77%)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风险领域: 1、国别风险突出</a:t>
            </a:r>
            <a:br/>
            <a:r>
              <a:t>2、交织的信用、流动性和汇率风险</a:t>
            </a:r>
            <a:br/>
            <a:r>
              <a:t>3、第三道防线监督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原因: 1.国别风险突出且管控难度大</a:t>
            </a:r>
            <a:br/>
            <a:r>
              <a:t>缅甸军事冲突严重影响宏观经济基本面，宏观经济呈现 “高通胀、弱工业、农业独撑”的状况，面临</a:t>
            </a:r>
          </a:p>
          <a:p>
            <a:pPr>
              <a:defRPr sz="1000" b="1">
                <a:solidFill>
                  <a:srgbClr val="1B2A4A"/>
                </a:solidFill>
              </a:defRPr>
            </a:pPr>
            <a:r>
              <a:t>工银国际 (NPL 25.23%)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风险领域: 1.资本金严重不足，影响机构外部评级，过度依赖借入资金，持续经营能力弱化</a:t>
            </a:r>
            <a:br/>
            <a:r>
              <a:t>2.业务发展困境仍未扭转，生息资产不足，缺少自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原因: 1.2025年末，工银国际所有者权益余额55.1亿港元，较年初减少24.2亿港元，降幅30.5%，已经跌破70亿港元关口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4572000"/>
          <a:ext cx="457200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0" y="457200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高频风险关键词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合规: █████████████ (13家)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信用风险: █████████████ (13家)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反洗钱: ████████████ (12家)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科技: ██████████ (10家)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监管: ██████ (6家)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操作风险: ████ (4家)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审计质量评估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BDEFB"/>
                </a:solidFill>
              </a:defRPr>
            </a:pPr>
            <a:r>
              <a:t>审计工作量、发现数与整改率分析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3657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0" y="1188720"/>
          <a:ext cx="6858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84048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总审计发现</a:t>
            </a:r>
          </a:p>
          <a:p>
            <a:pPr>
              <a:defRPr sz="2200" b="1">
                <a:solidFill>
                  <a:srgbClr val="2E86C1"/>
                </a:solidFill>
              </a:defRPr>
            </a:pPr>
            <a:r>
              <a:t>733 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73152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0" y="384048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平均整改率</a:t>
            </a:r>
          </a:p>
          <a:p>
            <a:pPr>
              <a:defRPr sz="2200" b="1">
                <a:solidFill>
                  <a:srgbClr val="27AE60"/>
                </a:solidFill>
              </a:defRPr>
            </a:pPr>
            <a:r>
              <a:t>83%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840480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0" y="3840480"/>
            <a:ext cx="237744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延期项目</a:t>
            </a:r>
          </a:p>
          <a:p>
            <a:pPr>
              <a:defRPr sz="2200" b="1">
                <a:solidFill>
                  <a:srgbClr val="E74C3C"/>
                </a:solidFill>
              </a:defRPr>
            </a:pPr>
            <a:r>
              <a:t>6 家有延期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3840480"/>
            <a:ext cx="73152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共性问题（B级机构主要待提升方面）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· 发现相关 — 22家机构提及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· 整改相关 — 10家机构提及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· 计划相关 — 9家机构提及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· 覆盖相关 — 6家机构提及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· 能力相关 — 5家机构提及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· IT相关 — 4家机构提及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盈利能力分析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BDEFB"/>
                </a:solidFill>
              </a:defRPr>
            </a:pPr>
            <a:r>
              <a:t>净利润排名与资产收益率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</a:defRPr>
            </a:pPr>
            <a:r>
              <a:t>资产收益率(ROA)排名</a:t>
            </a:r>
          </a:p>
          <a:p>
            <a:pPr>
              <a:defRPr sz="1000" b="1"/>
            </a:pPr>
            <a:r>
              <a:t>最高:</a:t>
            </a:r>
          </a:p>
          <a:p>
            <a:pPr>
              <a:defRPr sz="900"/>
            </a:pPr>
            <a:r>
              <a:t>  工银莫斯科: 5.20%</a:t>
            </a:r>
          </a:p>
          <a:p>
            <a:pPr>
              <a:defRPr sz="900"/>
            </a:pPr>
            <a:r>
              <a:t>  工银阿拉木图: 4.11%</a:t>
            </a:r>
          </a:p>
          <a:p>
            <a:pPr>
              <a:defRPr sz="900"/>
            </a:pPr>
            <a:r>
              <a:t>  河内分行: 3.75%</a:t>
            </a:r>
          </a:p>
          <a:p>
            <a:pPr>
              <a:defRPr sz="900"/>
            </a:pPr>
            <a:r>
              <a:t>  万象分行: 2.79%</a:t>
            </a:r>
          </a:p>
          <a:p>
            <a:pPr>
              <a:defRPr sz="900"/>
            </a:pPr>
            <a:r>
              <a:t>  卡拉奇分行: 2.40%</a:t>
            </a:r>
          </a:p>
          <a:p>
            <a:pPr>
              <a:defRPr sz="1000" b="1"/>
            </a:pPr>
            <a:r>
              <a:t>最低:</a:t>
            </a:r>
          </a:p>
          <a:p>
            <a:pPr>
              <a:defRPr sz="900"/>
            </a:pPr>
            <a:r>
              <a:t>  工银奥地利: 0.07%</a:t>
            </a:r>
          </a:p>
          <a:p>
            <a:pPr>
              <a:defRPr sz="900"/>
            </a:pPr>
            <a:r>
              <a:t>  工银澳门: 0.04%</a:t>
            </a:r>
          </a:p>
          <a:p>
            <a:pPr>
              <a:defRPr sz="900"/>
            </a:pPr>
            <a:r>
              <a:t>  工银欧洲: 0.01%</a:t>
            </a:r>
          </a:p>
          <a:p>
            <a:pPr>
              <a:defRPr sz="900"/>
            </a:pPr>
            <a:r>
              <a:t>  工银土耳其: -1.21%</a:t>
            </a:r>
          </a:p>
          <a:p>
            <a:pPr>
              <a:defRPr sz="900"/>
            </a:pPr>
            <a:r>
              <a:t>  工银国际: -5.11%</a:t>
            </a:r>
          </a:p>
          <a:p>
            <a:br/>
            <a:pPr>
              <a:defRPr sz="1100" b="1">
                <a:solidFill>
                  <a:srgbClr val="E74C3C"/>
                </a:solidFill>
              </a:defRPr>
            </a:pPr>
            <a:r>
              <a:t>亏损机构 (2家):</a:t>
            </a:r>
          </a:p>
          <a:p>
            <a:pPr>
              <a:defRPr sz="900">
                <a:solidFill>
                  <a:srgbClr val="E74C3C"/>
                </a:solidFill>
              </a:defRPr>
            </a:pPr>
            <a:r>
              <a:t>  工银土耳其: -0.29亿$ | NPL 0.03%</a:t>
            </a:r>
          </a:p>
          <a:p>
            <a:pPr>
              <a:defRPr sz="900">
                <a:solidFill>
                  <a:srgbClr val="E74C3C"/>
                </a:solidFill>
              </a:defRPr>
            </a:pPr>
            <a:r>
              <a:t>  工银国际: -3.39亿$ | NPL 25.23%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监管环境与评级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BDEFB"/>
                </a:solidFill>
              </a:defRPr>
            </a:pPr>
            <a:r>
              <a:t>各地区监管机构及最新评级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涉及 40 个监管机构，覆盖 46 家机构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澳门金融管理局 (2家)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工银澳门, 澳门分行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香港金管局 (2家)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工银亚洲, 香港分行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CSSF (2家)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工银欧洲, 卢森堡分行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纽联储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纽约分行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工银美国主要接受货币监理署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工银美国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OSFI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工银加拿大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"CNBV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工银墨西哥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新加坡金融监管局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新加坡分行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金融监管局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工银印尼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马来西亚央行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工银马来西亚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菲律宾中央银行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马尼拉分行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澳大利亚审慎监管局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悉尼分行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俄罗斯央行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工银莫斯科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哈萨克斯坦国家银行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工银阿拉木图</a:t>
            </a:r>
          </a:p>
          <a:p>
            <a:pPr>
              <a:spcBef>
                <a:spcPts val="600"/>
              </a:spcBef>
              <a:defRPr sz="1100" b="1">
                <a:solidFill>
                  <a:srgbClr val="1B2A4A"/>
                </a:solidFill>
              </a:defRPr>
            </a:pPr>
            <a:r>
              <a:t>🏛 新西兰储备银行 (1家)</a:t>
            </a:r>
          </a:p>
          <a:p>
            <a:pPr>
              <a:defRPr sz="900">
                <a:solidFill>
                  <a:srgbClr val="7F8C8D"/>
                </a:solidFill>
              </a:defRPr>
            </a:pPr>
            <a:r>
              <a:t>  工银新西兰</a:t>
            </a:r>
          </a:p>
          <a:p>
            <a:pPr>
              <a:spcBef>
                <a:spcPts val="1000"/>
              </a:spcBef>
              <a:defRPr sz="1100" b="1">
                <a:solidFill>
                  <a:srgbClr val="E67E22"/>
                </a:solidFill>
              </a:defRPr>
            </a:pPr>
            <a:r>
              <a:t>值得关注的监管评级变化:</a:t>
            </a:r>
          </a:p>
          <a:p>
            <a:pPr>
              <a:defRPr sz="900"/>
            </a:pPr>
            <a:r>
              <a:t>  纽约分行: 2025年度，纽联储对分行评级为“三级”一般，与2024年持平。内部审计属于运营控制（O）板块，该板块评级较2024年上</a:t>
            </a:r>
          </a:p>
          <a:p>
            <a:pPr>
              <a:defRPr sz="900"/>
            </a:pPr>
            <a:r>
              <a:t>  工银美国: 美国货币监理署每年对子行出具CAMEL评级。货币监理署对子行2025年评级为2级，与去年持平。</a:t>
            </a:r>
          </a:p>
          <a:p>
            <a:pPr>
              <a:defRPr sz="900"/>
            </a:pPr>
            <a:r>
              <a:t>  工银加拿大: 2025年监管评级预计于4月份收到</a:t>
            </a:r>
          </a:p>
          <a:p>
            <a:pPr>
              <a:defRPr sz="900"/>
            </a:pPr>
            <a:r>
              <a:t>  工银墨西哥: 2024年获评“满意”评级，该评级由墨西哥财政与公共信贷部于每年7-8月针对上一年度银行表现情况发布。2025年的评级需</a:t>
            </a:r>
          </a:p>
          <a:p>
            <a:pPr>
              <a:defRPr sz="900"/>
            </a:pPr>
            <a:r>
              <a:t>  新加坡分行: 中低级</a:t>
            </a:r>
            <a:br/>
            <a:r>
              <a:t>（4级中的第2级），较2024年（上一次）评级无变化。</a:t>
            </a:r>
          </a:p>
          <a:p>
            <a:pPr>
              <a:defRPr sz="900"/>
            </a:pPr>
            <a:r>
              <a:t>  工银印尼: 2级</a:t>
            </a:r>
            <a:br/>
            <a:r>
              <a:t>（5级中的第2级），较2024年（上一次）评级无变化。</a:t>
            </a:r>
          </a:p>
          <a:p>
            <a:pPr>
              <a:defRPr sz="900"/>
            </a:pPr>
            <a:r>
              <a:t>  工银马来西亚: 稳定级</a:t>
            </a:r>
            <a:br/>
            <a:r>
              <a:t>（4级中的第2级），较2024年（上一次）评级不变。</a:t>
            </a:r>
          </a:p>
          <a:p>
            <a:pPr>
              <a:defRPr sz="900"/>
            </a:pPr>
            <a:r>
              <a:t>  马尼拉分行: 3级--稳健</a:t>
            </a:r>
            <a:br/>
            <a:r>
              <a:t>（4级中的第3级，强、稳健、不充分、弱），较2024年（上一次）评级无变化。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审计建议与重点关注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BDEFB"/>
                </a:solidFill>
              </a:defRPr>
            </a:pPr>
            <a:r>
              <a:t>基于数据分析的核心建议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91440" cy="274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信用风险管控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河内分行(NPL 3.74%)、仰光分行(NPL 31.8%)、工银澳门(NPL 1097%)需重点关注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建议增加专项信用风险审计项目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对NPL超过1%的机构开展风险成因深挖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9144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审计能力建设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多家机构反映IT审计能力不足，建议加强培训或引入外部支持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整改率低于80%的11家机构需建立整改跟踪机制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提升审计发现质量，减少零发现项目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91440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监管合规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关注反洗钱、合规等高频风险领域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加强信息系统建设和数据治理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44444"/>
                </a:solidFill>
              </a:defRPr>
            </a:pPr>
            <a:r>
              <a:t>• 持续跟踪各监管机构评级变化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